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9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2" r:id="rId18"/>
    <p:sldId id="273" r:id="rId19"/>
    <p:sldId id="274" r:id="rId20"/>
    <p:sldId id="275" r:id="rId21"/>
  </p:sldIdLst>
  <p:sldSz cx="12192000" cy="6858000"/>
  <p:notesSz cx="6858000" cy="9144000"/>
  <p:custDataLst>
    <p:tags r:id="rId25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34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大家好，欢迎参加今天的分享。在今天的讲座中，我们将一起探索如何通过掌握Visual Studio的快捷键，来一场指尖上的效率革命。这不仅仅是关于记住几个按键，更是关于如何让我们的思维与代码无缝连接，提升我们作为C#开发者的生产力。让我们开始吧！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谈谈为什么要学习快捷键。简单来说，快捷键是连接我们大脑和代码的最短路径。它能显著减少鼠标操作，让我们保持思维的流畅性，避免被频繁的切换所打断。长期来看，这不仅能提升效率，还能保护我们的手腕。更重要的是，熟练使用快捷键是专业素养的体现，是一项值得投资的技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进入基础编辑部分。这些是最常用的快捷键，相信大家都很熟悉。复制、粘贴、剪切、撤销、重做和保存。虽然简单，但它们是我们日常编码中使用频率最高的操作。熟练掌握它们，是提升基础效率的第一步。特别是Ctrl+S，一定要养成随时保存的好习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掌握精准的文本选择技巧，可以让我们的编辑工作事半功倍。除了用鼠标拖动选择，我们还可以用Shift配合方向键、Home、End键来快速选择文本。特别是Ctrl+Shift+方向键，可以快速选中整个单词，这在修改变量名时非常有用。还有Shift+Alt+点，可以开启多光标编辑，同时修改多处相同内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针对整行的操作。Ctrl+L可以直接删除一行，非常高效。Ctrl+D可以复制当前行到下一行，对于重复代码非常有用。而Alt+上下箭头，可以直接移动整行代码，调整代码顺序再也不用剪切粘贴了。还有Ctrl+Enter和Ctrl+Shift+Enter，可以在当前行的上方或下方快速插入新行，保持代码整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我们的项目变得复杂，打开的文件越来越多时，高效的文件导航就至关重要。Ctrl+Tab是最常用的切换文件的方式，它会弹出一个窗口，显示所有打开的文件。Ctrl+W可以快速关闭当前文件，而Ctrl+Shift+W则可以关闭所有文件，让你的工作区保持整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阅读和理解他人代码时，代码导航快捷键是你的利器。F12可以直接跳转到定义处，Shift+F12可以查找所有引用。而Alt+F12，内联查看定义，是我个人非常喜欢的一个功能，它可以在不离开当前文件的情况下查看定义，非常高效。Ctrl+-和Ctrl+Shift+-则可以让你在代码跳转历史中自由穿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现在我们进入更高级的部分：代码生成与重构。Visual Studio的IntelliSense非常强大。Ctrl+J可以手动触发它。而Ctrl+点，是Visual Studio的“瑞士军刀”，它能根据你的代码上下文，提供各种智能建议，比如生成属性、实现接口、简化代码等等。善用它，可以极大地减少重复劳动。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代码重构是提升代码质量的关键。Ctrl+R,R可以安全地重命名任何标识符，并自动更新所有引用。Ctrl+R,M可以将一段代码提取成方法，这是重构中最常用的操作之一。还有格式化代码的Ctrl+K,D，可以一键让你的代码变得整洁美观，符合团队规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调试是开发过程中不可或缺的一环。F5启动调试，Ctrl+F5不调试运行。F9用来设置断点，这是最基础的调试操作。当你需要重新调试时，Ctrl+Shift+F5可以快速重启，比手动停止再启动要高效得多。而Ctrl+Shift+F9则可以一键清除所有断点，非常方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程序在断点处暂停后，我们需要控制它的执行流程。F10是逐过程执行，不会进入方法内部。F11是逐语句执行，会进入方法内部，这是我们深入调试的利器。Shift+F11则可以跳出当前方法。Ctrl+F10可以让程序直接运行到光标所在行，非常实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查找和替换是我们日常编码中经常用到的功能。Ctrl+F打开查找框，Ctrl+H打开替换框。F3和Shift+F3可以在查找结果之间快速跳转。这些快捷键可以帮助我们在当前文件中快速定位和修改内容。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多光标编辑是一个非常强大的高级技巧。通过Ctrl+Alt+鼠标点击，你可以在不同位置添加多个光标，然后同时输入内容。Shift+Alt+点可以快速为所有相同的标识符添加光标，实现批量修改。这在处理重复代码或批量修改变量名时，可以节省大量时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回顾一下今天提到的一些关键快捷键。在编辑方面，Ctrl+D、Ctrl+L和Alt+上下箭头是非常实用的。导航方面，F12和Shift+F12是追踪代码的利器。重构方面，Ctrl+点和Ctrl+R,R能极大提升代码质量。调试和查找方面，F5、F10、F11以及各种查找快捷键也不可或缺。记住，关键不在于记住所有快捷键，而在于持续使用那些对你最有用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那么，如何开始将这些快捷键融入你的日常工作呢？我的建议是，不要贪多，每天学习2-3个，然后刻意去使用它们。同时，多留意Visual Studio菜单栏上显示的快捷键提示。如果某些快捷键不顺手，你还可以自定义它们。此外，一些扩展工具也能提供更多强大的功能。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我的分享到此结束。现在是提问与交流环节，大家有任何关于Visual Studio快捷键的问题，或者有自己的独门秘籍想要分享，都欢迎提出来。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再次感谢大家的聆听。希望今天分享的内容能帮助大家提升编程效率，让快捷键成为你们编程的翅膀，飞向更高的效率。谢谢大家！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1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.png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svg"/><Relationship Id="rId7" Type="http://schemas.openxmlformats.org/officeDocument/2006/relationships/image" Target="../media/image20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3.sv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4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5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6.jpe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7.jpe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tags" Target="../tags/tag2.xml"/><Relationship Id="rId4" Type="http://schemas.openxmlformats.org/officeDocument/2006/relationships/image" Target="../media/image20.png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8" Type="http://schemas.openxmlformats.org/officeDocument/2006/relationships/notesSlide" Target="../notesSlides/notesSlide14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" Type="http://schemas.openxmlformats.org/officeDocument/2006/relationships/tags" Target="../tags/tag19.xml"/><Relationship Id="rId27" Type="http://schemas.openxmlformats.org/officeDocument/2006/relationships/notesSlide" Target="../notesSlides/notesSlide15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33.xml"/><Relationship Id="rId24" Type="http://schemas.openxmlformats.org/officeDocument/2006/relationships/tags" Target="../tags/tag32.xml"/><Relationship Id="rId23" Type="http://schemas.openxmlformats.org/officeDocument/2006/relationships/image" Target="../media/image38.svg"/><Relationship Id="rId22" Type="http://schemas.openxmlformats.org/officeDocument/2006/relationships/image" Target="../media/image37.png"/><Relationship Id="rId21" Type="http://schemas.openxmlformats.org/officeDocument/2006/relationships/tags" Target="../tags/tag31.xml"/><Relationship Id="rId20" Type="http://schemas.openxmlformats.org/officeDocument/2006/relationships/tags" Target="../tags/tag30.xml"/><Relationship Id="rId2" Type="http://schemas.openxmlformats.org/officeDocument/2006/relationships/tags" Target="../tags/tag18.xml"/><Relationship Id="rId19" Type="http://schemas.openxmlformats.org/officeDocument/2006/relationships/tags" Target="../tags/tag29.xml"/><Relationship Id="rId18" Type="http://schemas.openxmlformats.org/officeDocument/2006/relationships/tags" Target="../tags/tag28.xml"/><Relationship Id="rId17" Type="http://schemas.openxmlformats.org/officeDocument/2006/relationships/image" Target="../media/image36.svg"/><Relationship Id="rId16" Type="http://schemas.openxmlformats.org/officeDocument/2006/relationships/image" Target="../media/image35.png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image" Target="../media/image34.svg"/><Relationship Id="rId10" Type="http://schemas.openxmlformats.org/officeDocument/2006/relationships/image" Target="../media/image33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4.png"/><Relationship Id="rId1" Type="http://schemas.openxmlformats.org/officeDocument/2006/relationships/image" Target="../media/image4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指尖上的效率革命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429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Visual Studio 快捷键终极指南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343400"/>
            <a:ext cx="76200" cy="304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19200" y="43180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 C# 开发者打造的生产力提升秘籍，解锁编码加速度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334000"/>
            <a:ext cx="101600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5588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分享人：[</a:t>
            </a:r>
            <a:r>
              <a:rPr lang="zh-CN" alt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我自己</a:t>
            </a: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5588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2026年9月9日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为什么快捷键如此重要？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755" r="755"/>
          <a:stretch>
            <a:fillRect/>
          </a:stretch>
        </p:blipFill>
        <p:spPr>
          <a:xfrm>
            <a:off x="762000" y="1778000"/>
            <a:ext cx="4318000" cy="2921000"/>
          </a:xfrm>
          <a:prstGeom prst="roundRect">
            <a:avLst>
              <a:gd name="adj" fmla="val 521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9530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500" b="0" i="1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快捷键是连接开发者思维与代码的最短路径，它让你的指尖与灵感同步，无需在鼠标与键盘间反复切换，真正实现人机合一。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1778000"/>
            <a:ext cx="59690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461000" y="17780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0" y="1968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223000" y="19304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效率倍增：拒绝思维中断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3495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减少鼠标的频繁移动与点击，让双手始终停留在键盘上，保持沉浸式的心流状态，大幅提升编码效率与思维连贯性。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461000" y="3365500"/>
            <a:ext cx="59690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461000" y="33655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0" y="3556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223000" y="35179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职业防护：降低劳损风险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937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减少重复性机械操作，有效预防腕管综合征（RSI）等职业病，为长期的编程职业生涯提供健康保障，让工作更舒适。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461000" y="4953000"/>
            <a:ext cx="59690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461000" y="49530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0" y="5143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223000" y="51054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专业进阶：资深开发者的标识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55245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熟练驾驭快捷键不仅是高效的体现，更是专业素养的象征。它是区分普通开发者与高效专家的关键细节，展现对工具的深度掌握。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/>
              <a:t>    </a:t>
            </a:r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基础编辑：通用编辑快捷键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58" r="58"/>
          <a:stretch>
            <a:fillRect/>
          </a:stretch>
        </p:blipFill>
        <p:spPr>
          <a:xfrm>
            <a:off x="762000" y="1651000"/>
            <a:ext cx="4826000" cy="2717800"/>
          </a:xfrm>
          <a:prstGeom prst="roundRect">
            <a:avLst>
              <a:gd name="adj" fmla="val 560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699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熟练掌握这些基础操作，是提升编码效率的基石。无论是日常的代码编写、修改还是版本控制，这些快捷键都能帮助你减少鼠标操作，保持专注。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6000" y="1651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2476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C 复制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快速复制代码片段、文本或变量名，是重复利用内容的基础操作，避免重复输入。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953500" y="1651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080500" y="1778000"/>
            <a:ext cx="2476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V 粘贴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将剪贴板内容快速粘贴到目标位置，支持跨文件、跨应用的内容迁移，高效复用。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0" y="32385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3365500"/>
            <a:ext cx="2476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X 剪切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高效移动代码块，比“复制+删除”更便捷，在重构代码结构或调整内容顺序时常用。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953500" y="32385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080500" y="3365500"/>
            <a:ext cx="2476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Z 撤销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代码写错或误删内容时的“救命稻草”，一键快速回退到上一步的正确状态。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096000" y="4826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2476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Y 重做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撤销后发现操作正确？用它快速恢复，避免重复执行相同步骤，提升纠错效率。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953500" y="4826000"/>
            <a:ext cx="273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080500" y="4953000"/>
            <a:ext cx="2476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S 保存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防止代码意外丢失的关键，建议配合编辑器开启自动保存功能，更省心。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114234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基础编辑：文本选择技巧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05" r="105"/>
          <a:stretch>
            <a:fillRect/>
          </a:stretch>
        </p:blipFill>
        <p:spPr>
          <a:xfrm>
            <a:off x="762000" y="1651000"/>
            <a:ext cx="4826000" cy="1651000"/>
          </a:xfrm>
          <a:prstGeom prst="roundRect">
            <a:avLst>
              <a:gd name="adj" fmla="val 7692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35560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熟练掌握这些快捷键，能显著减少鼠标操作，提升代码编辑的流畅度。无论是精细的字符修改，还是批量的全局替换，精准的选择都是高效编码的第一步。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6000" y="1651000"/>
            <a:ext cx="2794000" cy="1397000"/>
          </a:xfrm>
          <a:prstGeom prst="roundRect">
            <a:avLst>
              <a:gd name="adj" fmla="val 0"/>
            </a:avLst>
          </a:prstGeom>
          <a:solidFill>
            <a:srgbClr val="ECFDF5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254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Shift + 方向键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逐字符精细选择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微调选中范围，精准修改少量字符，避免鼠标拖动的不精确。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017000" y="1651000"/>
            <a:ext cx="2794000" cy="1397000"/>
          </a:xfrm>
          <a:prstGeom prst="roundRect">
            <a:avLst>
              <a:gd name="adj" fmla="val 0"/>
            </a:avLst>
          </a:prstGeom>
          <a:solidFill>
            <a:srgbClr val="ECFDF5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144000" y="1778000"/>
            <a:ext cx="254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Shift + Home / End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快速定位行首尾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一键选中光标到行首或行尾的内容，快速处理整行文本。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0" y="3238500"/>
            <a:ext cx="2794000" cy="1397000"/>
          </a:xfrm>
          <a:prstGeom prst="roundRect">
            <a:avLst>
              <a:gd name="adj" fmla="val 0"/>
            </a:avLst>
          </a:prstGeom>
          <a:solidFill>
            <a:srgbClr val="ECFDF5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3365500"/>
            <a:ext cx="254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Shift + ←/→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整词快速选中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修改变量名、方法名时，直接选中整个单词，高效便捷。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017000" y="3238500"/>
            <a:ext cx="2794000" cy="1397000"/>
          </a:xfrm>
          <a:prstGeom prst="roundRect">
            <a:avLst>
              <a:gd name="adj" fmla="val 0"/>
            </a:avLst>
          </a:prstGeom>
          <a:solidFill>
            <a:srgbClr val="ECFDF5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144000" y="3365500"/>
            <a:ext cx="254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A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全选文档内容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一次性选中所有内容，用于全局替换、复制或格式调整。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096000" y="4826000"/>
            <a:ext cx="2794000" cy="1397000"/>
          </a:xfrm>
          <a:prstGeom prst="roundRect">
            <a:avLst>
              <a:gd name="adj" fmla="val 0"/>
            </a:avLst>
          </a:prstGeom>
          <a:solidFill>
            <a:srgbClr val="ECFDF5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4953000"/>
            <a:ext cx="254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Shift + Alt + .   Shift+ Ait+</a:t>
            </a:r>
            <a:r>
              <a:rPr lang="zh-CN" alt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方向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多光标匹配选中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快速选中下一个匹配项，开启多光标模式，批量修改相同文本。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9017000" y="4826000"/>
            <a:ext cx="2794000" cy="1397000"/>
          </a:xfrm>
          <a:prstGeom prst="roundRect">
            <a:avLst>
              <a:gd name="adj" fmla="val 0"/>
            </a:avLst>
          </a:prstGeom>
          <a:solidFill>
            <a:srgbClr val="ECFDF5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144000" y="4953000"/>
            <a:ext cx="254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双击 / 三击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鼠标快速选中文本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双击选中单词，三击选中整行，鼠标操作的高效补充。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88685" y="191770"/>
            <a:ext cx="5695315" cy="951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Visual Studio </a:t>
            </a:r>
            <a:r>
              <a:rPr lang="zh-CN" altLang="en-US">
                <a:ea typeface="宋体" panose="02010600030101010101" pitchFamily="2" charset="-122"/>
              </a:rPr>
              <a:t>选中整词，可以按住</a:t>
            </a:r>
            <a:r>
              <a:rPr lang="en-US" altLang="zh-CN">
                <a:ea typeface="宋体" panose="02010600030101010101" pitchFamily="2" charset="-122"/>
              </a:rPr>
              <a:t>shift + </a:t>
            </a:r>
            <a:r>
              <a:rPr lang="zh-CN" altLang="en-US">
                <a:ea typeface="宋体" panose="02010600030101010101" pitchFamily="2" charset="-122"/>
              </a:rPr>
              <a:t>（）或</a:t>
            </a:r>
            <a:r>
              <a:rPr lang="en-US" altLang="zh-CN">
                <a:ea typeface="宋体" panose="02010600030101010101" pitchFamily="2" charset="-122"/>
              </a:rPr>
              <a:t>“”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[]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{},</a:t>
            </a:r>
            <a:r>
              <a:rPr lang="zh-CN" altLang="en-US">
                <a:ea typeface="宋体" panose="02010600030101010101" pitchFamily="2" charset="-122"/>
              </a:rPr>
              <a:t>将次直接放进（）中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基础编辑：行操作快捷键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613" r="613"/>
          <a:stretch>
            <a:fillRect/>
          </a:stretch>
        </p:blipFill>
        <p:spPr>
          <a:xfrm>
            <a:off x="762000" y="1651000"/>
            <a:ext cx="4318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203200" dist="76200" dir="2700000" algn="tl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5720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行操作是编码中最频繁的动作之一。熟练掌握这些快捷键，能减少鼠标依赖，让你的代码编辑过程更加流畅、高效，专注于逻辑构建而非机械操作。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1651000"/>
            <a:ext cx="2095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562600" y="18034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L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562600" y="22225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快速删除整行代码，无需先选中，比手动删除效率翻倍。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83500" y="1651000"/>
            <a:ext cx="2095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785100" y="18034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D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785100" y="22225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复制当前行并粘贴到下一行，适合重复的变量或结构。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906000" y="1651000"/>
            <a:ext cx="2095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007600" y="18034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Alt + ↑ / 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007600" y="22225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上下移动整行代码，快速调整代码顺序，告别剪切粘贴。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461000" y="3556000"/>
            <a:ext cx="3175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562600" y="3708400"/>
            <a:ext cx="298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Enter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562600" y="4165600"/>
            <a:ext cx="298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在当前行上方插入新行，无需移动光标至行首，保持代码结构整洁有序。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26500" y="3556000"/>
            <a:ext cx="3175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928100" y="3708400"/>
            <a:ext cx="298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Shift + Enter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28100" y="4165600"/>
            <a:ext cx="298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在当前行下方插入新行，无缝衔接后续代码编写，保持思路连贯不中断。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461000" y="5588000"/>
            <a:ext cx="6540500" cy="5842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562600" y="5689600"/>
            <a:ext cx="641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效率提升：这些高频操作能减少约40%的鼠标移动，让你更专注于代码逻辑。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代码导航：文件与窗口导航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9530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直观的窗口切换界面，让多文件管理变得轻松高效，告别繁琐的鼠标点击，专注于代码本身。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53000" y="1778000"/>
            <a:ext cx="330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953000" y="17780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143500" y="18796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Tab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快速切换文档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按住Ctrl键重复按Tab，在已打开的文件间循环切换，高效查看不同代码文件，无需鼠标点击。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953000" y="3238500"/>
            <a:ext cx="330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953000" y="32385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143500" y="33401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Shift + Tab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反向切换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与正向切换配合使用，快速回溯之前的文件，灵活定位目标文档，大幅减少查找时间。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953000" y="4699000"/>
            <a:ext cx="330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953000" y="46990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143500" y="48006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F6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切换下一个窗口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无需弹出预览窗口，直接切换到下一个文档，适合习惯极简操作、追求速度的开发者。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18500" y="1778000"/>
            <a:ext cx="330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18500" y="17780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509000" y="18796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W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关闭当前窗口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快速关闭当前不再需要的文件，及时清理工作区，避免标签页过多造成视觉干扰。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318500" y="3238500"/>
            <a:ext cx="330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318500" y="3238500"/>
            <a:ext cx="508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509000" y="33401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 - 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跳转到上一个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窗口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直接跳到上一个窗口，本质是跳到光标在上一次存在的位置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318500" y="4699000"/>
            <a:ext cx="33020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509000" y="48006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效率提升关键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掌握这些快捷键能减少80%的鼠标操作，让你的编码流程更加流畅，将精力集中在逻辑实现而非界面切换上。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44550" y="1838325"/>
            <a:ext cx="3727450" cy="307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代码导航：代码定义与引用导航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51" b="151"/>
          <a:stretch>
            <a:fillRect/>
          </a:stretch>
        </p:blipFill>
        <p:spPr>
          <a:xfrm>
            <a:off x="762000" y="1778000"/>
            <a:ext cx="3302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203200" dist="76200" dir="2700000" algn="tl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在主流IDE中，通过快捷键或右键菜单即可快速实现代码跳转，极大提升阅读、调试与维护效率。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45000" y="1714500"/>
            <a:ext cx="36195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572000" y="1841500"/>
            <a:ext cx="3365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F12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转到定义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将光标置于变量、方法或类上，一键跳转至其定义源头，快速溯源代码逻辑。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3238500"/>
            <a:ext cx="36195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72000" y="3365500"/>
            <a:ext cx="3365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F12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转到实现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针对接口或抽象方法，直接跳转到具体的实现类或方法体，简化层级查找。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91500" y="3238500"/>
            <a:ext cx="36195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445500" y="3365500"/>
            <a:ext cx="3365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Shift + F12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查找所有引用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全局检索标识符在整个解决方案中的使用情况，快速分析代码调用链路与影响范围。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91500" y="1714500"/>
            <a:ext cx="36195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18500" y="1841500"/>
            <a:ext cx="3365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Alt + F12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内联查看定义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无需切换文件，在当前窗口弹出悬浮窗展示定义，保持上下文连贯，高效便捷。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070" y="-4445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代码生成与重构：智能代码生成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9260" r="9260"/>
          <a:stretch>
            <a:fillRect/>
          </a:stretch>
        </p:blipFill>
        <p:spPr>
          <a:xfrm>
            <a:off x="762000" y="1651000"/>
            <a:ext cx="4826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699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Visual Studio 的 IntelliSense 与快速操作功能，可根据代码上下文实时提供智能建议，从生成构造函数到简化冗余代码，极大地减少重复编码工作，显著提升开发效率。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969000" y="1651000"/>
            <a:ext cx="2984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9500" y="1841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540500" y="1841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Ait+ Enter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2286000"/>
            <a:ext cx="2603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快速操作与重构：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根据上下文提供代码修复、接口实现、简化冗余代码等建议，是 Visual Studio 最强大的生产力功能之一。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080500" y="1651000"/>
            <a:ext cx="2984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71000" y="184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652000" y="1841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Tab 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271000" y="2286000"/>
            <a:ext cx="2603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确认补全建议：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在代码提示列表中选中目标项后，按下 Tab 即可快速插入代码，无需鼠标操作，保持编码流畅性。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969000" y="3810000"/>
            <a:ext cx="2984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9500" y="4000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540500" y="4000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J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59500" y="4445000"/>
            <a:ext cx="2603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手动触发补全：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当自动补全未响应时，手动唤醒 IntelliSense，强制获取上下文相关的代码提示与补全选项。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080500" y="3810000"/>
            <a:ext cx="2984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71000" y="4000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652000" y="4000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K, X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271000" y="4445000"/>
            <a:ext cx="2603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插入代码片段：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快速调用预设模板（如 `prop`、`for` 循环），输入缩写后按两次 Tab 即可展开完整代码结构。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代码生成与重构：代码重构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64" r="64"/>
          <a:stretch>
            <a:fillRect/>
          </a:stretch>
        </p:blipFill>
        <p:spPr>
          <a:xfrm>
            <a:off x="762000" y="1651000"/>
            <a:ext cx="4572000" cy="25908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203200" dist="76200" dir="2700000" algn="tl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572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代码重构是提升代码质量的核心手段。通过合理的重构，不仅能消除代码冗余，还能显著提升系统的可维护性与扩展性，让后续开发更加顺畅高效。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1651000"/>
            <a:ext cx="3111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842000" y="17780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Ctrl+R, Ctrl+R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智能重命名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安全重命名变量、方法或类，并自动更新所有引用，避免手动替换的疏漏风险。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953500" y="1651000"/>
            <a:ext cx="3111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080500" y="17780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Ctrl+R, Ctrl+M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提取方法重构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将重复或复杂的代码块封装为独立方法，有效提升代码复用性与逻辑可读性。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715000" y="3238500"/>
            <a:ext cx="3111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842000" y="33655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Ctrl+R, Ctrl+E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字段封装属性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快速将公共字段转换为私有属性，并自动生成标准的 Getter/Setter 访问方法。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953500" y="3238500"/>
            <a:ext cx="3111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080500" y="33655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Ctrl+R, Ctrl+I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提取接口定义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从现有类中提取抽象接口，助力实现依赖注入（DI）与单元测试的解耦设计。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715000" y="4826000"/>
            <a:ext cx="3111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842000" y="49530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Ctrl+K, Ctrl+D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格式化整个文档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一键整理代码排版，自动对齐缩进与空格，严格遵循团队编码规范与风格。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953500" y="4826000"/>
            <a:ext cx="3111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080500" y="49530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Ctrl+K, Ctrl+F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格式化选中代码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仅对选中的特定代码片段进行局部格式化，保持其他区域代码的原始状态不变。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高效调试：调试基础操作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49" b="149"/>
          <a:stretch>
            <a:fillRect/>
          </a:stretch>
        </p:blipFill>
        <p:spPr>
          <a:xfrm>
            <a:off x="762000" y="1778000"/>
            <a:ext cx="4318000" cy="25654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254000" dist="101600" dir="2700000" algn="tl">
              <a:srgbClr val="000000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6990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掌握这些核心快捷键，能显著提升开发效率。通过灵活运用断点与调试控制，快速定位代码逻辑错误，减少排查时间。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1778000"/>
            <a:ext cx="2984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588000" y="1905000"/>
            <a:ext cx="273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F5 启动调试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开启调试会话，程序将自动运行至首个断点处暂停，便于逐步排查问题。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699500" y="1778000"/>
            <a:ext cx="2984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26500" y="1905000"/>
            <a:ext cx="273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Ctrl+F5 直接运行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跳过调试模式直接启动程序，适用于快速验证程序运行结果，无需中断。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461000" y="3302000"/>
            <a:ext cx="2984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588000" y="3429000"/>
            <a:ext cx="273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Shift+F5 停止调试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立即终止当前的调试会话，结束程序进程，常用于中断异常或错误的调试。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699500" y="3302000"/>
            <a:ext cx="2984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826500" y="3429000"/>
            <a:ext cx="273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Ctrl+Shift+F5 重启调试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一键重启调试会话，相比“停止+启动”流程更高效，适合快速迭代测试。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461000" y="4826000"/>
            <a:ext cx="2984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588000" y="4953000"/>
            <a:ext cx="273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F9 切换断点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在当前光标所在代码行快速添加或移除断点，是调试中最常用的标记手段。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699500" y="4826000"/>
            <a:ext cx="2984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826500" y="4953000"/>
            <a:ext cx="273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Ctrl+Shift+F9 清除断点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一键清空项目中所有设置的断点，便于重新规划调试路径，避免干扰。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高效调试：调试执行控制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逐行分析，洞察细节，掌握调试核心快捷键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21412" r="21412"/>
          <a:stretch>
            <a:fillRect/>
          </a:stretch>
        </p:blipFill>
        <p:spPr>
          <a:xfrm>
            <a:off x="762000" y="2032000"/>
            <a:ext cx="4826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4572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通过可视化的调试界面，实时监控变量状态与代码执行路径，精准定位程序运行时的逻辑细节，让调试过程直观高效。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842000" y="2032000"/>
            <a:ext cx="28575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969000" y="2184400"/>
            <a:ext cx="260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F10 逐过程执行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969000" y="2603500"/>
            <a:ext cx="260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执行当前行代码但不进入方法内部，适合快速浏览整体流程，高效把握程序执行脉络。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26500" y="2032000"/>
            <a:ext cx="28575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953500" y="2184400"/>
            <a:ext cx="260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F11 逐语句执行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953500" y="2603500"/>
            <a:ext cx="260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深入方法内部逐行执行，精准定位代码逻辑细节，是排查复杂业务逻辑与算法错误的利器。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842000" y="3556000"/>
            <a:ext cx="28575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969000" y="3708400"/>
            <a:ext cx="260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Shift+F11 跳出方法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969000" y="4127500"/>
            <a:ext cx="260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快速执行完当前方法剩余逻辑并返回调用处，摆脱深层嵌套，大幅提升调试效率。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26500" y="3556000"/>
            <a:ext cx="28575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953500" y="3708400"/>
            <a:ext cx="260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Ctrl+F10 运行到光标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953500" y="4127500"/>
            <a:ext cx="260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无需设置临时断点，直接跳转到光标所在行，快速定位关键代码位置进行检查。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842000" y="5143500"/>
            <a:ext cx="5842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969000" y="5270500"/>
            <a:ext cx="558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Shift + F10 ｜ 设置下一条语句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手动干预程序执行流程，灵活跳过错误代码块或重复执行关键片段，极大加速调试验证过程。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查找与替换：快速查找与替换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21" b="121"/>
          <a:stretch>
            <a:fillRect/>
          </a:stretch>
        </p:blipFill>
        <p:spPr>
          <a:xfrm>
            <a:off x="762000" y="1778000"/>
            <a:ext cx="2451100" cy="355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203200" dist="76200" dir="2700000" algn="tl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461000"/>
            <a:ext cx="2451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Visual Studio 查找替换对话框示意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683000" y="1778000"/>
            <a:ext cx="27305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810000" y="19304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F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快速查找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0" y="2413000"/>
            <a:ext cx="2476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在当前文件中输入关键词，即刻精准定位目标文本，是快速检索内容的必备方式。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67500" y="1778000"/>
            <a:ext cx="27305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794500" y="19304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H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快速替换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794500" y="2413000"/>
            <a:ext cx="2476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支持批量搜索并替换指定文本，提供精准匹配与全局替换选项，大幅提升修改效率。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高级技巧：多光标编辑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0800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在代码编辑器中，多光标功能让批量修改变得高效且直观，极大提升编码效率与重构速度。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207000" y="1778000"/>
            <a:ext cx="635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207000" y="1778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1000" y="1968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842000" y="1905000"/>
            <a:ext cx="558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Ctrl + Alt + 鼠标点击：手动添加光标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在任意位置点击添加多个独立光标，适用于非连续、不规则位置的批量编辑，如同时修改分散的变量名或添加多行注释。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207000" y="3302000"/>
            <a:ext cx="635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207000" y="330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492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842000" y="3429000"/>
            <a:ext cx="558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Shift + Alt + .：快速选中下一个匹配项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针对选中的文本，逐个查找并添加光标到后续的相同匹配项，适合逐步确认并修改重复出现的标识符或关键字。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1455" y="1371600"/>
            <a:ext cx="4883785" cy="3606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总结与回顾：关键快捷键回顾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9525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编辑效率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952500" y="2286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Ctrl+D：快速复制整行代码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Ctrl+L：一键删除当前行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Alt+↑/↓：上下移动整行内容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4381500" y="1651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45720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代码导航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4572000" y="2286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F12：快速跳转到变量定义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Shift+F12：查找所有引用位置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Ctrl+Tab：无缝切换打开的文档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8001000" y="1651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81915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智能重构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8191500" y="2286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Ctrl+.：呼出上下文快速操作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Ctrl+R,R：重命名变量/方法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自动修复：一键优化代码结构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762000" y="3810000"/>
            <a:ext cx="5270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952500" y="4000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高效调试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952500" y="4445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F5：启动调试会话，运行至断点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F10：逐过程执行，跳过函数调用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F11：逐语句执行，深入函数内部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6286500" y="3810000"/>
            <a:ext cx="5270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6477000" y="4000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全局检索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6477000" y="4445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Ctrl+F：当前文档内快速查找替换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5245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56515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核心心法：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快捷键的价值不在于数量，而在于高频使用。与其贪多求全，不如挑选3-5个最贴合你编码习惯的快捷键，刻意练习直到形成肌肉记忆，让它们真正成为提升开发效率的“隐形翅膀”。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实践建议：如何开始使用快捷键？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95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778000" y="2032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从小处着手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778000" y="26035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不必贪多，每天学习2-3个新快捷键并刻意使用。通过持续的微小积累，逐步形成自然的肌肉记忆，让快捷键成为你的本能反应。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6223000" y="1778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2095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7239000" y="2032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关注菜单提示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7239000" y="26035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留意Visual Studio菜单栏中命令旁标注的快捷键，这是最直观的学习途径。在日常操作中多观察，既能巩固记忆，又能发现新的高效技巧。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762000" y="4191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6000" y="4508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1778000" y="4445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个性化定制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1778000" y="50165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若默认快捷键不顺手，可通过「工具→选项→环境→键盘」路径，将高频命令绑定为更符合你操作习惯的组合，打造专属的高效开发环境。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6223000" y="4191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77000" y="45085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4"/>
            </p:custDataLst>
          </p:nvPr>
        </p:nvSpPr>
        <p:spPr>
          <a:xfrm>
            <a:off x="7239000" y="4445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借助扩展工具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5"/>
            </p:custDataLst>
          </p:nvPr>
        </p:nvSpPr>
        <p:spPr>
          <a:xfrm>
            <a:off x="7239000" y="50165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安装Productivity Power Tools、ReSharper等专业插件，不仅能解锁更多强大的快捷键，还能获得代码分析、智能重构等自动化功能，进一步提升开发效率。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762000" y="-762000"/>
            <a:ext cx="2540000" cy="2540000"/>
          </a:xfrm>
          <a:prstGeom prst="ellipse">
            <a:avLst/>
          </a:prstGeom>
          <a:solidFill>
            <a:srgbClr val="22C55E">
              <a:alpha val="10000"/>
            </a:srgbClr>
          </a:solidFill>
          <a:ln cap="flat" cmpd="sng">
            <a:solidFill>
              <a:srgbClr val="0CAC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0" y="5080000"/>
            <a:ext cx="3810000" cy="3810000"/>
          </a:xfrm>
          <a:prstGeom prst="ellipse">
            <a:avLst/>
          </a:prstGeom>
          <a:solidFill>
            <a:srgbClr val="22C55E">
              <a:alpha val="15000"/>
            </a:srgbClr>
          </a:solidFill>
          <a:ln cap="flat" cmpd="sng">
            <a:solidFill>
              <a:srgbClr val="0CAC47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提问与交流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3302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无论是对Visual Studio快捷键的深度解析，还是您的独家使用心得，</a:t>
            </a:r>
            <a:b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都欢迎畅所欲言，共同切磋，让我们在交流中碰撞出更多灵感。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397000" y="4572000"/>
            <a:ext cx="45720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1800" y="49149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286000" y="47625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大胆提问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遇到的技术难题、操作困惑，尽管提出，我们一起探讨解决方案。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4572000"/>
            <a:ext cx="45720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49149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47625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经验分享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分享你的高效技巧、快捷键组合或独门秘籍，让更多人受益。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93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让快捷键成为你编程的翅膀，飞向更高的效率！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DIAGRAM_VIRTUALLY_FRAME" val="{&quot;height&quot;:290,&quot;left&quot;:60,&quot;top&quot;:130,&quot;width&quot;:850}"/>
</p:tagLst>
</file>

<file path=ppt/tags/tag4.xml><?xml version="1.0" encoding="utf-8"?>
<p:tagLst xmlns:p="http://schemas.openxmlformats.org/presentationml/2006/main">
  <p:tag name="KSO_WM_DIAGRAM_VIRTUALLY_FRAME" val="{&quot;height&quot;:290,&quot;left&quot;:60,&quot;top&quot;:130,&quot;width&quot;:850}"/>
</p:tagLst>
</file>

<file path=ppt/tags/tag5.xml><?xml version="1.0" encoding="utf-8"?>
<p:tagLst xmlns:p="http://schemas.openxmlformats.org/presentationml/2006/main">
  <p:tag name="KSO_WM_DIAGRAM_VIRTUALLY_FRAME" val="{&quot;height&quot;:290,&quot;left&quot;:60,&quot;top&quot;:130,&quot;width&quot;:850}"/>
</p:tagLst>
</file>

<file path=ppt/tags/tag6.xml><?xml version="1.0" encoding="utf-8"?>
<p:tagLst xmlns:p="http://schemas.openxmlformats.org/presentationml/2006/main">
  <p:tag name="KSO_WM_DIAGRAM_VIRTUALLY_FRAME" val="{&quot;height&quot;:290,&quot;left&quot;:60,&quot;top&quot;:130,&quot;width&quot;:850}"/>
</p:tagLst>
</file>

<file path=ppt/tags/tag7.xml><?xml version="1.0" encoding="utf-8"?>
<p:tagLst xmlns:p="http://schemas.openxmlformats.org/presentationml/2006/main">
  <p:tag name="KSO_WM_DIAGRAM_VIRTUALLY_FRAME" val="{&quot;height&quot;:290,&quot;left&quot;:60,&quot;top&quot;:130,&quot;width&quot;:850}"/>
</p:tagLst>
</file>

<file path=ppt/tags/tag8.xml><?xml version="1.0" encoding="utf-8"?>
<p:tagLst xmlns:p="http://schemas.openxmlformats.org/presentationml/2006/main">
  <p:tag name="KSO_WM_DIAGRAM_VIRTUALLY_FRAME" val="{&quot;height&quot;:290,&quot;left&quot;:60,&quot;top&quot;:130,&quot;width&quot;:850}"/>
</p:tagLst>
</file>

<file path=ppt/tags/tag9.xml><?xml version="1.0" encoding="utf-8"?>
<p:tagLst xmlns:p="http://schemas.openxmlformats.org/presentationml/2006/main">
  <p:tag name="KSO_WM_DIAGRAM_VIRTUALLY_FRAME" val="{&quot;height&quot;:290,&quot;left&quot;:60,&quot;top&quot;:130,&quot;width&quot;:850}"/>
</p:tagLst>
</file>

<file path=ppt/tags/tag10.xml><?xml version="1.0" encoding="utf-8"?>
<p:tagLst xmlns:p="http://schemas.openxmlformats.org/presentationml/2006/main">
  <p:tag name="KSO_WM_DIAGRAM_VIRTUALLY_FRAME" val="{&quot;height&quot;:290,&quot;left&quot;:60,&quot;top&quot;:130,&quot;width&quot;:850}"/>
</p:tagLst>
</file>

<file path=ppt/tags/tag11.xml><?xml version="1.0" encoding="utf-8"?>
<p:tagLst xmlns:p="http://schemas.openxmlformats.org/presentationml/2006/main">
  <p:tag name="KSO_WM_DIAGRAM_VIRTUALLY_FRAME" val="{&quot;height&quot;:290,&quot;left&quot;:60,&quot;top&quot;:130,&quot;width&quot;:850}"/>
</p:tagLst>
</file>

<file path=ppt/tags/tag12.xml><?xml version="1.0" encoding="utf-8"?>
<p:tagLst xmlns:p="http://schemas.openxmlformats.org/presentationml/2006/main">
  <p:tag name="KSO_WM_DIAGRAM_VIRTUALLY_FRAME" val="{&quot;height&quot;:290,&quot;left&quot;:60,&quot;top&quot;:130,&quot;width&quot;:850}"/>
</p:tagLst>
</file>

<file path=ppt/tags/tag13.xml><?xml version="1.0" encoding="utf-8"?>
<p:tagLst xmlns:p="http://schemas.openxmlformats.org/presentationml/2006/main">
  <p:tag name="KSO_WM_DIAGRAM_VIRTUALLY_FRAME" val="{&quot;height&quot;:290,&quot;left&quot;:60,&quot;top&quot;:130,&quot;width&quot;:850}"/>
</p:tagLst>
</file>

<file path=ppt/tags/tag14.xml><?xml version="1.0" encoding="utf-8"?>
<p:tagLst xmlns:p="http://schemas.openxmlformats.org/presentationml/2006/main">
  <p:tag name="KSO_WM_DIAGRAM_VIRTUALLY_FRAME" val="{&quot;height&quot;:290,&quot;left&quot;:60,&quot;top&quot;:130,&quot;width&quot;:850}"/>
</p:tagLst>
</file>

<file path=ppt/tags/tag15.xml><?xml version="1.0" encoding="utf-8"?>
<p:tagLst xmlns:p="http://schemas.openxmlformats.org/presentationml/2006/main">
  <p:tag name="KSO_WM_DIAGRAM_VIRTUALLY_FRAME" val="{&quot;height&quot;:290,&quot;left&quot;:60,&quot;top&quot;:130,&quot;width&quot;:850}"/>
</p:tagLst>
</file>

<file path=ppt/tags/tag16.xml><?xml version="1.0" encoding="utf-8"?>
<p:tagLst xmlns:p="http://schemas.openxmlformats.org/presentationml/2006/main">
  <p:tag name="KSO_WM_DIAGRAM_VIRTUALLY_FRAME" val="{&quot;height&quot;:290,&quot;left&quot;:60,&quot;top&quot;:130,&quot;width&quot;:850}"/>
</p:tagLst>
</file>

<file path=ppt/tags/tag17.xml><?xml version="1.0" encoding="utf-8"?>
<p:tagLst xmlns:p="http://schemas.openxmlformats.org/presentationml/2006/main">
  <p:tag name="KSO_WM_DIAGRAM_VIRTUALLY_FRAME" val="{&quot;height&quot;:290,&quot;left&quot;:60,&quot;top&quot;:130,&quot;width&quot;:850}"/>
</p:tagLst>
</file>

<file path=ppt/tags/tag18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19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0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1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2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3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4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5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6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7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8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9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0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1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2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3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4.xml><?xml version="1.0" encoding="utf-8"?>
<p:tagLst xmlns:p="http://schemas.openxmlformats.org/presentationml/2006/main">
  <p:tag name="commondata" val="eyJoZGlkIjoiOWUyNTBkZTNmNDgxNzFlNmNmMGY1YzljNmQxODY3ZT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4724</Words>
  <Application>WPS 演示</Application>
  <PresentationFormat/>
  <Paragraphs>319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无聊的机器人</cp:lastModifiedBy>
  <cp:revision>16</cp:revision>
  <dcterms:created xsi:type="dcterms:W3CDTF">2026-09-07T12:37:00Z</dcterms:created>
  <dcterms:modified xsi:type="dcterms:W3CDTF">2026-09-09T04:40:40Z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{"Label":"1","ContentProducer":"001191110102MACQD9K64010000","ProduceID":"7682683733231095031","ReservedCode1":"","ContentPropagator":"","PropagateID":"","ReservedCode2":""}</vt:lpwstr>
  </property>
  <property fmtid="{D5CDD505-2E9C-101B-9397-08002B2CF9AE}" pid="3" name="ICV">
    <vt:lpwstr>59C5E67DFD4A4BF3AE6DD5AAF35D16F9_12</vt:lpwstr>
  </property>
  <property fmtid="{D5CDD505-2E9C-101B-9397-08002B2CF9AE}" pid="4" name="KSOProductBuildVer">
    <vt:lpwstr>2052-12.1.0.16250</vt:lpwstr>
  </property>
</Properties>
</file>