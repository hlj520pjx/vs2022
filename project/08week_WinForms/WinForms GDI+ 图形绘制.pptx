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5" r:id="rId10"/>
    <p:sldId id="260" r:id="rId11"/>
    <p:sldId id="261" r:id="rId12"/>
    <p:sldId id="262" r:id="rId13"/>
    <p:sldId id="263" r:id="rId14"/>
    <p:sldId id="264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48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48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大家好，今天我们来学习WinForms中的GDI+图形绘制。GDI+是Windows Forms中进行自定义绘图的核心技术，掌握它可以让你在界面上绘制任意图形、文字和图像。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本次课程将从最基础的Paint事件讲起，逐步深入到矩形、圆形、多边形、文字、圆弧等各种图形的绘制方法，最后还会讲解正三角形的极坐标计算原理。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所有内容都基于真实代码，学完之后你将能够独立在WinForms应用中实现自定义绘图。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本次课程共分为七个模块。前四个模块是基础，讲解GDI+的绘图框架、核心对象和基础图形绘制方法。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第五和第六模块是进阶内容，重点讲解正三角形的极坐标计算原理和圆弧绘制的角度规则，这部分是初学者最容易困惑的地方。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最后一个模块总结常见易错点和最佳实践，帮助大家避开编码中的陷阱。整个课程围绕一个核心问题展开：如何在WinForms中用代码绘制任意图形？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GDI+绘图最基础也是最重要的一页。很多初学者会问：为什么我不能直接在按钮点击事件里画图？答案是Windows窗体的绘图机制决定了——窗口在被遮挡、缩放、最小化后需要重新绘制，只有Paint事件里的代码会被系统自动调用重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标准绘图流程分四步：获取Graphics对象、配置抗锯齿、创建画笔和画刷、调用绘图方法。特别要注意using语句的使用，Pen和Brush都是GDI资源，不及时释放会造成资源泄漏。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右侧代码展示了一个最简化的Paint事件实现，可以看到四步流程清晰对应。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这一页讲解GDI+中两个最核心的绘图对象。Pen画笔负责画线条和轮廓，Brush画刷负责填充内部。初学者最容易混淆的是什么时候用Draw开头的方法，什么时候用Fill开头的方法——记住Draw配Pen，Fill配Brush就不会错。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需要特别注意的是Color.FromArgb方法，它有四个参数：第一个是透明度alpha，后面三个是红绿蓝三原色。透明度范围是0到255，0表示完全透明，255表示完全不透明。代码中用128就是50%透明度的效果。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另外，Pen和Brush都实现了IDisposable接口，必须用using语句包裹，否则会造成GDI资源泄漏。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这一页讲解颜色和透明度的设置。Color.FromArgb方法有四个参数：第一个是alpha透明度，后面三个分别是红、绿、蓝三原色通道。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alpha参数容易搞反：它表示的是不透明度，不是透明度。alpha=0表示完全透明（看不见），alpha=255表示完全不透明。代码中用128就是50%不透明度的效果。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RGB三个通道每个取值0-255，通过不同比例的混合可以表示出1600多万种颜色。比如红色是(255,0,0)，绿色是(0,255,0)，蓝色是(0,0,255)，黄色是(255,255,0)。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底部展示了同一个蓝色在不同alpha值下的效果对比，可以直观看到alpha值越大颜色越不透明。代码中还展示了系统颜色Color.Yellow的等价写法，它等价于Color.FromArgb(255,255,255,0)。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这一页讲解最基础的两个图形：矩形和椭圆。每个图形都有两个版本的方法：Draw开头的画空心轮廓，Fill开头的画实心填充。Draw方法需要Pen画笔，Fill方法需要Brush画刷。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特别要注意椭圆的绘制：DrawEllipse和FillEllipse的参数跟矩形完全一样，也是x、y、width、height。这里的x和y是椭圆外接矩形的左上角坐标。当width等于height时，画出来的就是正圆形。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还有一个容易忽略的点：所有坐标都是相对于绘图控件（比如panel1）的客户区，而不是相对于整个窗体。如果panel在窗体中有偏移，图形坐标不会自动加上这个偏移。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这一页讲解直线和文字的绘制。DrawLine方法比较简单，只需要指定起点和终点的四个坐标即可。需要注意的是Pen的线宽会影响直线的粗细。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字绘制是初学者容易困惑的地方。DrawString方法需要四个核心参数：文本内容、字体Font、画刷Brush、起始坐标。如果需要文字在某个区域内居中对齐，就需要使用StringFormat对象，分别设置Alignment（水平对齐）和LineAlignment（垂直对齐）为Center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另外，Font对象也是GDI资源，必须用using包裹释放。代码中展示了多个using语句连续写在一起的写法，这是C#的语法特性，可以减少嵌套层级。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这一页讲解多边形和三角形的绘制。核心概念是Point数组：你想画什么形状，就把这个形状所有顶点的坐标按顺序放进Point数组里，然后调用DrawPolygon或FillPolygon即可。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三角形本质上就是一个只有3个Point的多边形。代码中可以看到，三角形的三个顶点分别是顶部、左下角、右下角。四边形则需要4个Point。理论上N个Point可以画出任意N边形。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需要特别注意的是绘制顺序：如果既要填充又要描边，必须先调用FillPolygon再调用DrawPolygon。如果反过来，填充会把边框的内侧盖住，导致边框看起来变细甚至消失。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这是本课程最核心的原理页。很多初学者看到用角度计算三角形顶点会感到困惑，其实原理很简单：极坐标转直角坐标。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首先，正三角形的三个顶点都在同一个圆的圆周上，彼此间隔120度。代码中用30、150、270这三个角度，是为了让三角形尖角朝上。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计算分两步：第一步把角度转成弧度，因为C#的Math.Cos和Math.Sin只接受弧度参数；第二步用余弦算X方向偏移，正弦算Y方向偏移，加上圆心坐标就得到顶点的屏幕坐标。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底部展示了三个顶点的具体计算结果，可以看到30度和150度的Y坐标相同（都在下方），270度的Y坐标最小（在上方），组合起来就是一个尖角朝上的正三角形。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这一页讲解圆弧绘制，这是GDI+中最容易让初学者困惑的部分。核心有三个概念：外接矩形、起始角度、扫描角度。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外接矩形是圆弧所在圆的外切矩形，这个矩形的左上角坐标和宽高决定了圆弧的位置和大小。如果宽高相等，内切圆就是正圆，画出来的就是正圆弧。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角度规则是重点：GDI+中0度指向水平向右，角度顺时针增加。这和数学课本上的坐标系不同——数学中0度朝右但角度逆时针增加，Y轴向上；而GDI+中Y轴向下，角度顺时针增加。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底部的速查表列出了常见的角度组合，可以直接复制使用。特别注意代码中注释写的"从270度开始扫90度"，画出来的是右上四分之一圆，而不是其他位置。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这是本课程的最后一页，我们来做一个完整的小结。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基础框架部分，我们学习了GDI+绘图的标准流程：绘图代码必须写在Paint事件中，通过PaintEventArgs获取Graphics对象，使用Pen画笔画轮廓、Brush画刷填充内部，所有GDI对象都要用using语句包裹自动释放资源。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图形绘制部分，我们掌握了六种基础图形的绘制方法：矩形DrawRectangle/FillRectangle、椭圆DrawEllipse/FillEllipse（宽高相等就是圆）、直线DrawLine、文字DrawString（配合StringFormat实现对齐）、多边形DrawPolygon/FillPolygon（Point数组定义任意形状）、圆弧DrawArc（外接矩形加起始角度和扫描角度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原理部分，我们深入理解了三个关键概念：极坐标转直角坐标（先把角度转弧度，再用Cos算X偏移、Sin算Y偏移，这是画正三角形的数学基础）、Color.FromArgb四个参数（alpha透明度加RGB三原色）、GDI角度规则（0度朝右，角度顺时针增加，Y轴向下，和数学坐标系不同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最佳实践部分，我们总结了三个重要技巧：先填充后描边避免边框被遮挡、使用双缓冲Panel消除频繁重绘的闪烁问题、开启抗锯齿让图形边缘更平滑。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最后，鼓励大家动手实践。GDI+绘图是一门实践性很强的技术，只有多写代码、多调试，才能真正掌握。从画一个简单的三角形开始，逐步尝试更复杂的图形，你会发现GDI+绘图其实很有趣。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100000">
              <a:srgbClr val="141E3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WinForms GDI </a:t>
            </a:r>
            <a:endParaRPr lang="en-US" sz="4800" b="1" i="0" u="none" strike="noStrike">
              <a:solidFill>
                <a:srgbClr val="FFFFFF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60A5FA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图形绘制</a:t>
            </a:r>
            <a:endParaRPr lang="en-US" sz="4000" b="1" i="0" u="none" strike="noStrike">
              <a:solidFill>
                <a:srgbClr val="60A5FA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-28647">
            <a:off x="1016026" y="4692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9144000" y="1524000"/>
            <a:ext cx="1016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15000"/>
            </a:srgbClr>
          </a:solidFill>
          <a:ln w="25400" cap="flat" cmpd="sng">
            <a:solidFill>
              <a:srgbClr val="60A5FA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414000" y="2032000"/>
            <a:ext cx="889000" cy="8890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ap="flat" cmpd="sng">
            <a:solidFill>
              <a:srgbClr val="4ADE80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9398000" y="3048000"/>
            <a:ext cx="1016000" cy="889000"/>
          </a:xfrm>
          <a:prstGeom prst="triangle">
            <a:avLst/>
          </a:prstGeom>
          <a:solidFill>
            <a:srgbClr val="EF4444">
              <a:alpha val="15000"/>
            </a:srgbClr>
          </a:solidFill>
          <a:ln w="25400" cap="flat" cmpd="sng">
            <a:solidFill>
              <a:srgbClr val="F8717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5842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C# · Windows Forms · System.Drawing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学习目录</a:t>
            </a:r>
            <a:endParaRPr lang="en-US" sz="32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34376">
            <a:off x="762032" y="1390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七个模块，从基础到原理，循序渐进</a:t>
            </a:r>
            <a:endParaRPr lang="en-US" sz="15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01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524000" y="2413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绘图基础框架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524000" y="27940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Paint 事件、Graphics 对象、抗锯齿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02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524000" y="342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绘图核心对象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524000" y="38100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Pen 画笔与 Brush 画刷的区别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50291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04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524000" y="5479415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基础图形绘制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524000" y="58293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矩形、椭圆、直线、文字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2413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05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366000" y="2413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多边形与三角形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366000" y="27940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Point 数组定义任意形状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3429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06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366000" y="342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正三角形原理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366000" y="38100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极坐标转直角坐标、角度转弧度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604000" y="4445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07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366000" y="444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圆弧绘制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366000" y="48260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DrawArc 角度规则</a:t>
            </a:r>
            <a:endParaRPr 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29" name="AutoShape 22"/>
          <p:cNvSpPr/>
          <p:nvPr/>
        </p:nvSpPr>
        <p:spPr>
          <a:xfrm>
            <a:off x="1524000" y="4454525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透明度与</a:t>
            </a: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颜色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12"/>
          <p:cNvSpPr/>
          <p:nvPr/>
        </p:nvSpPr>
        <p:spPr>
          <a:xfrm>
            <a:off x="762000" y="4445000"/>
            <a:ext cx="63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03</a:t>
            </a:r>
            <a:endParaRPr lang="en-US" sz="2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32" name="AutoShape 11"/>
          <p:cNvSpPr/>
          <p:nvPr/>
        </p:nvSpPr>
        <p:spPr>
          <a:xfrm>
            <a:off x="1524000" y="4826000"/>
            <a:ext cx="406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FromArgb 透明度</a:t>
            </a:r>
            <a:r>
              <a:rPr lang="zh-CN" altLang="en-US" sz="1300">
                <a:solidFill>
                  <a:srgbClr val="64748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，三原色</a:t>
            </a:r>
            <a:endParaRPr lang="zh-CN" alt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889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为什么绘图代码必须写在 Paint 事件里？</a:t>
            </a:r>
            <a:endParaRPr lang="en-US" sz="2800" b="1" i="0" u="none" strike="noStrike">
              <a:solidFill>
                <a:srgbClr val="0D13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215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绘图四步标准流程</a:t>
            </a:r>
            <a:endParaRPr lang="en-US" sz="1800" b="1" i="0" u="none" strike="noStrike">
              <a:solidFill>
                <a:srgbClr val="0D1326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36600" y="2705100"/>
            <a:ext cx="381000" cy="381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36600" y="2730500"/>
            <a:ext cx="38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1</a:t>
            </a:r>
            <a:endParaRPr lang="en-US" sz="15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2730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获取绘图对象 Graphics</a:t>
            </a:r>
            <a:endParaRPr lang="en-US" sz="1500" b="1" i="0" u="none" strike="noStrike">
              <a:solidFill>
                <a:srgbClr val="0D13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70000" y="30480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从 PaintEventArgs 获取</a:t>
            </a:r>
            <a:endParaRPr lang="en-US" sz="1300" b="0" i="0" u="none" strike="noStrik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36600" y="3492500"/>
            <a:ext cx="381000" cy="381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2</a:t>
            </a:r>
            <a:endParaRPr 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0" y="3517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配置绘图质量</a:t>
            </a:r>
            <a:endParaRPr lang="en-US" sz="1500" b="1" i="0" u="none" strike="noStrike">
              <a:solidFill>
                <a:srgbClr val="0D1326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270000" y="3835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SmoothingMode.AntiAlias 开启抗锯齿</a:t>
            </a:r>
            <a:endParaRPr lang="en-US" sz="1300" b="0" i="0" u="none" strike="noStrik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36600" y="4279900"/>
            <a:ext cx="381000" cy="381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3</a:t>
            </a:r>
            <a:endParaRPr 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70000" y="43053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创建画笔 Pen / 画刷 Brush</a:t>
            </a:r>
            <a:endParaRPr lang="en-US" sz="1500" b="1" i="0" u="none" strike="noStrike">
              <a:solidFill>
                <a:srgbClr val="0D13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270000" y="46228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>
                <a:solidFill>
                  <a:srgbClr val="64748B"/>
                </a:solidFill>
                <a:latin typeface="Arial" panose="020B0604020202020204" pitchFamily="34" charset="0"/>
                <a:ea typeface="Songti SC"/>
                <a:cs typeface="Arial" panose="020B0604020202020204" pitchFamily="34" charset="0"/>
                <a:sym typeface="Songti SC"/>
              </a:rPr>
              <a:t>用 using 包裹，自动释放 GDI 资源</a:t>
            </a:r>
            <a:endParaRPr lang="zh-CN" altLang="en-US" sz="1300" b="0" i="0" u="none" strike="noStrike">
              <a:solidFill>
                <a:srgbClr val="64748B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36600" y="5067300"/>
            <a:ext cx="381000" cy="381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4</a:t>
            </a:r>
            <a:endParaRPr lang="en-US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70000" y="50927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调用绘图方法绘制图形</a:t>
            </a:r>
            <a:endParaRPr lang="en-US" sz="1500" b="1" i="0" u="none" strike="noStrike">
              <a:solidFill>
                <a:srgbClr val="0D1326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270000" y="54102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DrawXxx 画轮廓，FillXxx 画填充</a:t>
            </a:r>
            <a:endParaRPr lang="en-US" sz="1300" b="0" i="0" u="none" strike="noStrike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096000" y="2032000"/>
            <a:ext cx="5588000" cy="419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096000" y="2032000"/>
            <a:ext cx="5588000" cy="4572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2095500"/>
            <a:ext cx="254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/>
              </a:rPr>
              <a:t>Form1.cs · Paint 事件</a:t>
            </a:r>
            <a:endParaRPr lang="en-US" sz="1300" b="0" i="0" u="none" strike="no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2667000"/>
            <a:ext cx="5207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private void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</a:t>
            </a:r>
            <a:r>
              <a:rPr lang="en-US" sz="1300" b="0" i="0" u="none" strike="noStrike">
                <a:solidFill>
                  <a:srgbClr val="FACC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Paint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(</a:t>
            </a: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object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sender, </a:t>
            </a: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PaintEventArgs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e)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{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// 1. 获取绘图对象</a:t>
            </a:r>
            <a:endParaRPr lang="en-US" sz="1300" b="0" i="0" u="none" strike="no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Graphics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g = e.Graphics;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// 2. 配置抗锯齿</a:t>
            </a:r>
            <a:endParaRPr lang="en-US" sz="1300" b="0" i="0" u="none" strike="no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g.SmoothingMode = </a:t>
            </a: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SmoothingMode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.AntiAlias;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// 3. 创建画笔</a:t>
            </a:r>
            <a:endParaRPr lang="en-US" sz="1300" b="0" i="0" u="none" strike="no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using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(</a:t>
            </a: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Pen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juxing = </a:t>
            </a: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new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 </a:t>
            </a:r>
            <a:r>
              <a:rPr lang="en-US" sz="1300" b="0" i="0" u="none" strike="noStrike">
                <a:solidFill>
                  <a:srgbClr val="FACC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Pen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(</a:t>
            </a:r>
            <a:r>
              <a:rPr lang="en-US" sz="1300" b="0" i="0" u="none" strike="noStrike">
                <a:solidFill>
                  <a:srgbClr val="60A5F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Color</a:t>
            </a: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.Red, 4))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{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// 4. 绘制图形</a:t>
            </a:r>
            <a:endParaRPr lang="en-US" sz="1300" b="0" i="0" u="none" strike="noStrike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g.DrawRectangle(pen, 10, 10, 200, 100);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}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Roboto Mono"/>
              </a:rPr>
              <a:t>}</a:t>
            </a:r>
            <a:endParaRPr lang="en-US" sz="1300" b="0" i="0" u="none" strike="noStrike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Pen 和 Brush 有什么区别？什么时候用哪个？</a:t>
            </a:r>
            <a:endParaRPr lang="en-US" sz="2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一个画轮廓，一个填内部，两者配合才能画出完整图形</a:t>
            </a:r>
            <a:endParaRPr lang="en-US" sz="15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955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095500"/>
            <a:ext cx="5207000" cy="6350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26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Pen 画笔</a:t>
            </a:r>
            <a:endParaRPr lang="en-US" sz="2000" b="1" i="0" u="none" strike="noStrike">
              <a:solidFill>
                <a:srgbClr val="DC26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298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作用：画线条、描边、空心图形轮廓</a:t>
            </a:r>
            <a:endParaRPr lang="en-US" sz="15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构造参数：颜色 + 线宽（像素）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对应方法：DrawRectangle、DrawEllipse、DrawLine</a:t>
            </a:r>
            <a:endParaRPr lang="en-US" sz="14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1524000" cy="5715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381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794000" y="4254500"/>
            <a:ext cx="571500" cy="5715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4381500"/>
            <a:ext cx="215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只有边框，内部透明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0955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2095500"/>
            <a:ext cx="5207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A34A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Brush 画刷</a:t>
            </a:r>
            <a:endParaRPr lang="en-US" sz="2000" b="1" i="0" u="none" strike="noStrike">
              <a:solidFill>
                <a:srgbClr val="16A34A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477000" y="298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作用：填充图形内部、画实心图形</a:t>
            </a:r>
            <a:endParaRPr lang="en-US" sz="15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477000" y="342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常用类：SolidBrush 纯色画刷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对应方法：FillRectangle、FillEllipse、FillPolygon</a:t>
            </a:r>
            <a:endParaRPr lang="en-US" sz="14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4254500"/>
            <a:ext cx="1524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255000" y="4254500"/>
            <a:ext cx="571500" cy="571500"/>
          </a:xfrm>
          <a:prstGeom prst="ellipse">
            <a:avLst/>
          </a:prstGeom>
          <a:solidFill>
            <a:srgbClr val="22C55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17000" y="4381500"/>
            <a:ext cx="215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内部填充，无边框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Color.FromArgb 的四个参数分别是什么？</a:t>
            </a:r>
            <a:endParaRPr lang="en-US" sz="2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460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透明度 + 红绿蓝三原色，精确控制每一种颜色和透明度</a:t>
            </a:r>
            <a:endParaRPr lang="en-US" sz="15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6350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方法签名与参数</a:t>
            </a:r>
            <a:endParaRPr lang="en-US" sz="1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2730500"/>
            <a:ext cx="5842000" cy="635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06500" y="28829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Color.FromArgb(</a:t>
            </a:r>
            <a:r>
              <a:rPr lang="en-US" sz="1400" b="0" i="0" u="none" strike="noStrike">
                <a:solidFill>
                  <a:srgbClr val="F87171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alpha</a:t>
            </a: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, </a:t>
            </a:r>
            <a:r>
              <a:rPr lang="en-US" sz="14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red</a:t>
            </a: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, </a:t>
            </a:r>
            <a:r>
              <a:rPr lang="en-US" sz="1400" b="0" i="0" u="none" strike="noStrike">
                <a:solidFill>
                  <a:srgbClr val="4ADE8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green</a:t>
            </a: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, </a:t>
            </a:r>
            <a:r>
              <a:rPr lang="en-US" sz="14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blue</a:t>
            </a: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)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F87171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alpha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：透明度 0-255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0=完全透明，255=完全不透明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064000" y="3556000"/>
            <a:ext cx="279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60A5FA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red/green/blue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：三原色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每个通道 0-255，混合出各种颜色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493000" y="2032000"/>
            <a:ext cx="3937000" cy="2794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493000" y="2032000"/>
            <a:ext cx="3937000" cy="4064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747000" y="20955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代码中的实际用法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747000" y="2603500"/>
            <a:ext cx="3556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半透明蓝色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r>
              <a:rPr lang="en-US" sz="11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SolidBrush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Color.FromArgb(128, 0, 120, 255))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不透明黄色</a:t>
            </a:r>
            <a:endParaRPr lang="en-US" sz="11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r>
              <a:rPr lang="en-US" sz="11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SolidBrush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Color.FromArgb(255, 255, 255, 0))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系统颜色（等价写法）</a:t>
            </a:r>
            <a:endParaRPr lang="en-US" sz="11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Color.Yellow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50546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透明度效果对比（蓝色 0,120,255）</a:t>
            </a:r>
            <a:endParaRPr lang="en-US" sz="14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55245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0078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16000" y="63754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alpha=51 (20%)</a:t>
            </a:r>
            <a:endParaRPr lang="en-US" sz="1100" b="0" i="0" u="none" strike="noStrike">
              <a:solidFill>
                <a:srgbClr val="64748B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2794000" y="55245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0078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2794000" y="63754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alpha=128 (50%)</a:t>
            </a:r>
            <a:endParaRPr lang="en-US" sz="1100" b="0" i="0" u="none" strike="noStrike">
              <a:solidFill>
                <a:srgbClr val="64748B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572000" y="55245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0078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572000" y="63754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alpha=204 (80%)</a:t>
            </a:r>
            <a:endParaRPr lang="en-US" sz="1100" b="0" i="0" u="none" strike="noStrike">
              <a:solidFill>
                <a:srgbClr val="64748B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5524500"/>
            <a:ext cx="1524000" cy="1079500"/>
          </a:xfrm>
          <a:prstGeom prst="roundRect">
            <a:avLst>
              <a:gd name="adj" fmla="val 0"/>
            </a:avLst>
          </a:prstGeom>
          <a:solidFill>
            <a:srgbClr val="007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6375400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alpha=255 (100%)</a:t>
            </a:r>
            <a:endParaRPr lang="en-US" sz="1100" b="0" i="0" u="none" strike="noStrike">
              <a:solidFill>
                <a:srgbClr val="64748B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255000" y="558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注意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：alpha 是不透明度，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值越大越不透明，0 完全看不见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矩形和圆形怎么画？Draw 和 Fill 的区别</a:t>
            </a:r>
            <a:endParaRPr lang="en-US" sz="2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掌握四个方法，矩形和圆形的空心/实心绘制全部搞定</a:t>
            </a:r>
            <a:endParaRPr lang="en-US" sz="15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矩形 Rectangle</a:t>
            </a:r>
            <a:endParaRPr lang="en-US" sz="1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2286000" cy="1143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381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746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DrawRectangle 空心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2540000"/>
            <a:ext cx="2286000" cy="1143000"/>
          </a:xfrm>
          <a:prstGeom prst="roundRect">
            <a:avLst>
              <a:gd name="adj" fmla="val 0"/>
            </a:avLst>
          </a:prstGeom>
          <a:solidFill>
            <a:srgbClr val="0078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429000" y="37465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FillRectangle 实心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254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g.DrawRectangle(pen, x, y, width, height);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g.FillRectangle(brush, x, y, width, height);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0" y="2032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椭圆 / 圆形 Ellipse</a:t>
            </a:r>
            <a:endParaRPr lang="en-US" sz="1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2540000"/>
            <a:ext cx="1143000" cy="11430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37465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DrawEllipse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874000" y="2540000"/>
            <a:ext cx="1143000" cy="1143000"/>
          </a:xfrm>
          <a:prstGeom prst="ellipse">
            <a:avLst/>
          </a:prstGeom>
          <a:solidFill>
            <a:srgbClr val="FACC15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747000" y="3746500"/>
            <a:ext cx="1397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FillEllipse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398000" y="2667000"/>
            <a:ext cx="1524000" cy="889000"/>
          </a:xfrm>
          <a:prstGeom prst="ellipse">
            <a:avLst/>
          </a:prstGeom>
          <a:solidFill>
            <a:srgbClr val="A855F7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9271000" y="3746500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宽高不等 = 椭圆</a:t>
            </a:r>
            <a:endParaRPr lang="en-US" sz="1200" b="0" i="0" u="none" strike="noStrike">
              <a:solidFill>
                <a:srgbClr val="64748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4254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g.DrawEllipse(pen, x, y, width, height);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g.FillEllipse(brush, x, y, width, height);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2705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16000" y="54356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关键参数说明</a:t>
            </a:r>
            <a:endParaRPr lang="en-US" sz="15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016000" y="58166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x, y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：图形左上角的坐标（不是窗体）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width, height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：宽度和高度；椭圆的宽高相等时就是正圆形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直线和文字怎么画？如何让文字居中对齐？</a:t>
            </a:r>
            <a:endParaRPr lang="en-US" sz="2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4605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DrawLine 连接两点，DrawString 配合 StringFormat 实现精确定位</a:t>
            </a:r>
            <a:endParaRPr lang="en-US" sz="15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A580C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直线 DrawLine</a:t>
            </a:r>
            <a:endParaRPr lang="en-US" sz="1800" b="1" i="0" u="none" strike="noStrike">
              <a:solidFill>
                <a:srgbClr val="EA580C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830263">
            <a:off x="1215290" y="3486153"/>
            <a:ext cx="3665441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EA580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1193800" y="2971800"/>
            <a:ext cx="152400" cy="152400"/>
          </a:xfrm>
          <a:prstGeom prst="ellipse">
            <a:avLst/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749800" y="3860800"/>
            <a:ext cx="152400" cy="152400"/>
          </a:xfrm>
          <a:prstGeom prst="ellipse">
            <a:avLst/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25500" y="2667000"/>
            <a:ext cx="698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(x1,y1)</a:t>
            </a:r>
            <a:endParaRPr lang="en-US" sz="1000" b="0" i="0" u="none" strike="noStrike">
              <a:solidFill>
                <a:srgbClr val="64748B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953000" y="4000500"/>
            <a:ext cx="698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(x2,y2)</a:t>
            </a:r>
            <a:endParaRPr lang="en-US" sz="1000" b="0" i="0" u="none" strike="noStrike">
              <a:solidFill>
                <a:srgbClr val="64748B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191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g.DrawLine(pen, x1, y1, x2, y2);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2032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222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文字 DrawString</a:t>
            </a:r>
            <a:endParaRPr lang="en-US" sz="18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858000" y="2794000"/>
            <a:ext cx="4064000" cy="1016000"/>
          </a:xfrm>
          <a:prstGeom prst="roundRect">
            <a:avLst>
              <a:gd name="adj" fmla="val 0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858000" y="2794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居中文字</a:t>
            </a:r>
            <a:endParaRPr lang="en-US" sz="20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604000" y="3937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sf.Alignment = StringAlignment.Center;   //</a:t>
            </a:r>
            <a:r>
              <a:rPr lang="zh-CN" alt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水平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sf.LineAlignment = StringAlignment.Center;   //</a:t>
            </a:r>
            <a:r>
              <a:rPr lang="zh-CN" alt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垂直</a:t>
            </a:r>
            <a:endParaRPr lang="zh-CN" alt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7625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4762500"/>
            <a:ext cx="10668000" cy="4064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16000" y="4826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完整代码示例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016000" y="52959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using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Pen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zhixian = 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r>
              <a:rPr lang="en-US" sz="11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Pen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Color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.Orange, 4))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using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Font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font = 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r>
              <a:rPr lang="en-US" sz="11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Font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F87171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"微软雅黑"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, 12))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using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StringFormat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sf = 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r>
              <a:rPr lang="en-US" sz="11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StringFormat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()) {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g.DrawLine(zhixian, 400, 300, 600, 200);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sf.Alignment = 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StringAlignment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.Center; sf.LineAlignment = 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StringAlignment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.Center;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g.DrawString(</a:t>
            </a:r>
            <a:r>
              <a:rPr lang="en-US" sz="1100" b="0" i="0" u="none" strike="noStrike">
                <a:solidFill>
                  <a:srgbClr val="F87171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"文本"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, font, wenzi, 400, 300, sf);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如何用 Point 数组画出任意多边形？</a:t>
            </a:r>
            <a:endParaRPr lang="en-US" sz="2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460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三角形就是 3 个 Point，四边形就是 4 个 Point，N 边形就是 N 个 Point</a:t>
            </a:r>
            <a:endParaRPr lang="en-US" sz="15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多边形 Polygon</a:t>
            </a:r>
            <a:endParaRPr lang="en-US" sz="1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43000" y="2857500"/>
            <a:ext cx="1143000" cy="889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667000" y="2730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Point[] points = {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Point(600,20),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Point(700,20),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Point(600,100),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Point(500,100)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};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06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g.DrawPolygon(pen, points); // 空心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2032000"/>
            <a:ext cx="5080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22225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三角形 Triangle</a:t>
            </a:r>
            <a:endParaRPr lang="en-US" sz="18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731000" y="2857500"/>
            <a:ext cx="1143000" cy="1016000"/>
          </a:xfrm>
          <a:prstGeom prst="triangle">
            <a:avLst/>
          </a:prstGeom>
          <a:solidFill>
            <a:srgbClr val="EF444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55000" y="2730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Point[] points = {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Point(100,400), // 顶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Point(50,520), // 左下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 Point(150,520) // 右下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};</a:t>
            </a:r>
            <a:endParaRPr lang="en-US" sz="11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406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g.FillPolygon(brush, points); // 实心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50800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关键要点</a:t>
            </a:r>
            <a:endParaRPr lang="en-US" sz="15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54991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Point 数组顺序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：按顺时针或逆时针依次排列顶点，系统自动闭合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最少 3 个点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：2 个点只能画直线，3 个点才能构成三角形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54991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先填充后描边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：FillPolygon 写在 DrawPolygon 前面，否则边框会被填充盖住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坐标是绝对坐标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：每个 Point 的 X、Y 都是相对于绘图控件的客户区</a:t>
            </a:r>
            <a:endParaRPr lang="en-US" sz="13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444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正三角形的顶点坐标是怎么算出来的？</a:t>
            </a:r>
            <a:endParaRPr lang="en-US" sz="26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111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3335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极坐标转直角坐标：给定圆心、半径和角度，算出顶点的 X、Y</a:t>
            </a:r>
            <a:endParaRPr lang="en-US" sz="14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5334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006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核心公式</a:t>
            </a:r>
            <a:endParaRPr 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2476500"/>
            <a:ext cx="4826000" cy="698500"/>
          </a:xfrm>
          <a:prstGeom prst="roundRect">
            <a:avLst>
              <a:gd name="adj" fmla="val 0"/>
            </a:avLst>
          </a:prstGeom>
          <a:solidFill>
            <a:srgbClr val="2563E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06500" y="25781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rad = angle * Math.PI / 180   //</a:t>
            </a:r>
            <a:r>
              <a:rPr lang="zh-CN" alt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角度</a:t>
            </a:r>
            <a:r>
              <a:rPr lang="en-US" altLang="zh-CN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*π/180</a:t>
            </a:r>
            <a:r>
              <a:rPr lang="zh-CN" alt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°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x = cx + radius * cos(rad)  //</a:t>
            </a:r>
            <a:r>
              <a:rPr lang="zh-CN" alt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外接圆圆心</a:t>
            </a:r>
            <a:r>
              <a:rPr lang="en-US" altLang="zh-CN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x</a:t>
            </a:r>
            <a:r>
              <a:rPr lang="zh-CN" alt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坐标</a:t>
            </a:r>
            <a:r>
              <a:rPr lang="en-US" altLang="zh-CN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+</a:t>
            </a:r>
            <a:r>
              <a:rPr lang="zh-CN" alt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半径</a:t>
            </a:r>
            <a:r>
              <a:rPr lang="en-US" altLang="zh-CN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*</a:t>
            </a:r>
            <a:r>
              <a:rPr lang="zh-CN" alt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Roboto Mono"/>
              </a:rPr>
              <a:t>余弦值</a:t>
            </a:r>
            <a:r>
              <a:rPr lang="en-US" sz="1400" b="0" i="0" u="none" strike="noStrike">
                <a:solidFill>
                  <a:srgbClr val="0D1326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endParaRPr lang="en-US" sz="1400" b="0" i="0" u="none" strike="noStrike">
              <a:solidFill>
                <a:srgbClr val="0D1326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302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角度转弧度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：Math.Cos / Sin 只接受弧度，不接受角度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Cos 算 X 偏移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：相对于圆心的水平方向位移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064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Sin 算 Y 偏移</a:t>
            </a:r>
            <a:r>
              <a:rPr lang="en-US" sz="13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：相对于圆心的垂直方向位移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1841500"/>
            <a:ext cx="5080000" cy="2921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1841500"/>
            <a:ext cx="5080000" cy="4064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1905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循环计算三个顶点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604000" y="23876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double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[] angles = { 30, 150, 270 };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i = 0; i &lt; angles.Length; i++)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{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角度转弧度</a:t>
            </a:r>
            <a:endParaRPr lang="en-US" sz="11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double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rad = angles[i] * Math.PI / 180;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x = cx + 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)(radius * Math.Cos(rad));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y = cy + (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)(radius * Math.Sin(rad));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Points[i] = </a:t>
            </a:r>
            <a:r>
              <a:rPr lang="en-US" sz="11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Point(x, y);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}</a:t>
            </a:r>
            <a:endParaRPr lang="en-US" sz="11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0165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5181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三个顶点计算结果（cx=300, cy=300, r=100）</a:t>
            </a:r>
            <a:endParaRPr lang="en-US" sz="14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16000" y="5651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EF4444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30°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(386, 350) 右下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cos(30°)=0.866, sin(30°)=0.5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445000" y="5651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22C55E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150°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(213, 350) 左下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cos(150°)=-0.866, sin(150°)=0.5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874000" y="5651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270°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(300, 200) 正上方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cos(270°)=0, sin(270°)=-1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6200" cy="6858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444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DrawArc 的 0 度朝哪？顺时针还是逆时针？</a:t>
            </a:r>
            <a:endParaRPr lang="en-US" sz="2600" b="1" i="0" u="none" strike="noStrike">
              <a:solidFill>
                <a:srgbClr val="0D1326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9">
            <a:off x="762040" y="11112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333500"/>
            <a:ext cx="762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搞懂外接矩形、起始角度和</a:t>
            </a:r>
            <a:r>
              <a:rPr lang="zh-CN" alt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末尾</a:t>
            </a:r>
            <a:r>
              <a:rPr lang="en-US" sz="14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角度，圆弧绘制不再困惑</a:t>
            </a:r>
            <a:endParaRPr lang="en-US" sz="14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5080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006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GDI+ 角度规则(</a:t>
            </a:r>
            <a:r>
              <a:rPr lang="zh-CN" alt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起始角度为</a:t>
            </a:r>
            <a:r>
              <a:rPr lang="en-US" altLang="zh-CN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0</a:t>
            </a:r>
            <a:r>
              <a:rPr lang="zh-CN" altLang="en-US" sz="1700" b="1" i="0" u="none" strike="noStrike">
                <a:solidFill>
                  <a:srgbClr val="0D1326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°时）</a:t>
            </a:r>
            <a:endParaRPr lang="zh-CN" altLang="en-US" sz="1700" b="1" i="0" u="none" strike="noStrike">
              <a:solidFill>
                <a:srgbClr val="0D1326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34376">
            <a:off x="1270032" y="3168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F444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2667000" y="30734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F4444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0° 朝右</a:t>
            </a:r>
            <a:endParaRPr lang="en-US" sz="1200" b="1" i="0" u="none" strike="noStrike">
              <a:solidFill>
                <a:srgbClr val="EF4444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65623">
            <a:off x="1270000" y="31686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2032000" y="387350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2C55E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90° 朝下</a:t>
            </a:r>
            <a:endParaRPr lang="en-US" sz="1100" b="0" i="0" u="none" strike="noStrike">
              <a:solidFill>
                <a:srgbClr val="22C55E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828800" y="3098800"/>
            <a:ext cx="152400" cy="152400"/>
          </a:xfrm>
          <a:prstGeom prst="ellipse">
            <a:avLst/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810000" y="2540000"/>
            <a:ext cx="1905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zh-CN" alt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末尾角度</a:t>
            </a:r>
            <a:endParaRPr lang="en-US" sz="1200" b="1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：水平向右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90°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：垂直向下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180°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：水平向左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270°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：垂直向上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角度顺时针增加</a:t>
            </a:r>
            <a:endParaRPr lang="en-US" sz="12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1841500"/>
            <a:ext cx="5080000" cy="2794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1841500"/>
            <a:ext cx="5080000" cy="4064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604000" y="1905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DrawArc 方法签名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04000" y="2349500"/>
            <a:ext cx="4699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g.DrawArc(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pen, </a:t>
            </a: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画笔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rect, </a:t>
            </a: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外接矩形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startAngle, </a:t>
            </a: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起始角度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sweepAngle </a:t>
            </a: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</a:t>
            </a:r>
            <a:r>
              <a:rPr lang="zh-CN" altLang="en-US" sz="1200" b="1">
                <a:solidFill>
                  <a:srgbClr val="47556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末尾角度</a:t>
            </a:r>
            <a:endParaRPr lang="en-US" sz="1200" b="1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);</a:t>
            </a:r>
            <a:endParaRPr lang="en-US" sz="12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Rectangle</a:t>
            </a: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rect = </a:t>
            </a:r>
            <a:r>
              <a:rPr lang="en-US" sz="1200" b="0" i="0" u="none" strike="noStrike">
                <a:solidFill>
                  <a:srgbClr val="60A5FA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new</a:t>
            </a: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</a:t>
            </a:r>
            <a:r>
              <a:rPr lang="en-US" sz="1200" b="0" i="0" u="none" strike="noStrike">
                <a:solidFill>
                  <a:srgbClr val="FACC15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Rectangle</a:t>
            </a: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(450,200,150,150);</a:t>
            </a:r>
            <a:endParaRPr lang="en-US" sz="1200" b="0" i="0" u="none" strike="noStrike">
              <a:solidFill>
                <a:srgbClr val="E2E8F0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g.DrawArc(huxing, rect, 270, 90); </a:t>
            </a:r>
            <a:r>
              <a:rPr lang="en-US" sz="12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// 右上1/4圆</a:t>
            </a:r>
            <a:endParaRPr lang="en-US" sz="1200" b="0" i="0" u="none" strike="noStrike">
              <a:solidFill>
                <a:srgbClr val="94A3B8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8895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016000" y="5054600"/>
            <a:ext cx="381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常见角度组合速查</a:t>
            </a:r>
            <a:endParaRPr lang="en-US" sz="1400" b="1" i="0" u="none" strike="noStrike">
              <a:solidFill>
                <a:srgbClr val="2563EB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016000" y="54864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EF4444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0, 90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右下 1/4 圆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22C55E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90, 90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左下 1/4 圆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2563EB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180, 90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左上 1/4 圆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683000" y="54864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A855F7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270, 90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右上 1/4 圆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EA580C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0, 180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右半圆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EC489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180, 180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Roboto Mono"/>
                <a:cs typeface="Arial" panose="020B0604020202020204" pitchFamily="34" charset="0"/>
                <a:sym typeface="Roboto Mono"/>
              </a:rPr>
              <a:t> → 上半圆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Roboto Mono"/>
              <a:cs typeface="Arial" panose="020B0604020202020204" pitchFamily="34" charset="0"/>
              <a:sym typeface="Roboto Mono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54864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外接矩形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：圆弧是这个矩形内切圆的一部分，正方形对应正圆弧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42000"/>
              </a:lnSpc>
            </a:pPr>
            <a:r>
              <a:rPr lang="zh-CN" altLang="en-US" sz="1200" b="1">
                <a:solidFill>
                  <a:srgbClr val="47556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Noto Sans SC"/>
              </a:rPr>
              <a:t>末尾角度</a:t>
            </a:r>
            <a:r>
              <a:rPr lang="en-US" sz="1200" b="0" i="0" u="none" strike="noStrike">
                <a:solidFill>
                  <a:srgbClr val="475569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：从起始角度开始，顺时针画多少度，360度就是完整圆</a:t>
            </a:r>
            <a:endParaRPr lang="en-US" sz="1200" b="0" i="0" u="none" strike="noStrike">
              <a:solidFill>
                <a:srgbClr val="475569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100000">
              <a:srgbClr val="141E3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课程小结</a:t>
            </a:r>
            <a:endParaRPr lang="en-US" sz="4000" b="1" i="0" u="none" strike="noStrike">
              <a:solidFill>
                <a:srgbClr val="FFFFFF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4" name="Connector 4"/>
          <p:cNvCxnSpPr/>
          <p:nvPr/>
        </p:nvCxnSpPr>
        <p:spPr>
          <a:xfrm rot="-34376">
            <a:off x="1016032" y="1962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222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掌握 GDI+ 绘图的核心知识体系</a:t>
            </a:r>
            <a:endParaRPr lang="en-US" sz="1600" b="0" i="0" u="none" strike="noStrike">
              <a:solidFill>
                <a:srgbClr val="94A3B8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292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基础框架</a:t>
            </a:r>
            <a:endParaRPr lang="en-US" sz="1800" b="1" i="0" u="none" strike="noStrike">
              <a:solidFill>
                <a:srgbClr val="60A5FA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1016000" y="3365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Paint 事件 + Graphics 对象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Pen 画笔 / Brush 画刷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using 自动释放 GDI 资源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6350000" y="292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图形绘制</a:t>
            </a:r>
            <a:endParaRPr lang="en-US" sz="1800" b="1" i="0" u="none" strike="noStrike">
              <a:solidFill>
                <a:srgbClr val="60A5FA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6350000" y="3365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矩形 / 椭圆 / 直线 / 文字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多边形 / 三角形（Point 数组）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圆弧（外接矩形 + 起始/扫描角度）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1016000" y="457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核心原理</a:t>
            </a:r>
            <a:endParaRPr lang="en-US" sz="1800" b="1" i="0" u="none" strike="noStrike">
              <a:solidFill>
                <a:srgbClr val="60A5FA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1016000" y="5016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极坐标转直角坐标（角度转弧度）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Color.FromArgb（透明度 + RGB）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GDI 角度规则（0°朝右，顺时针）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6350000" y="457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0A5FA"/>
                </a:solidFill>
                <a:latin typeface="Arial" panose="020B0604020202020204" pitchFamily="34" charset="0"/>
                <a:ea typeface="Noto Sans SC"/>
                <a:cs typeface="Noto Sans SC"/>
                <a:sym typeface="Noto Sans SC"/>
              </a:rPr>
              <a:t>最佳实践</a:t>
            </a:r>
            <a:endParaRPr lang="en-US" sz="1800" b="1" i="0" u="none" strike="noStrike">
              <a:solidFill>
                <a:srgbClr val="60A5FA"/>
              </a:solidFill>
              <a:latin typeface="Arial" panose="020B0604020202020204" pitchFamily="34" charset="0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350000" y="5016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先 Fill 后 Draw（边框不被遮挡）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双缓冲 Panel 消除重绘闪烁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抗锯齿 SmoothingMode.AntiAlias</a:t>
            </a:r>
            <a:endParaRPr lang="en-US" sz="1400" b="0" i="0" u="none" strike="noStrike">
              <a:solidFill>
                <a:srgbClr val="E2E8F0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16000" y="6223000"/>
            <a:ext cx="10160000" cy="12700"/>
          </a:xfrm>
          <a:prstGeom prst="roundRect">
            <a:avLst>
              <a:gd name="adj" fmla="val 0"/>
            </a:avLst>
          </a:prstGeom>
          <a:solidFill>
            <a:srgbClr val="475569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6413500"/>
            <a:ext cx="1016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Arial" panose="020B0604020202020204" pitchFamily="34" charset="0"/>
                <a:ea typeface="Noto Sans SC"/>
                <a:cs typeface="Arial" panose="020B0604020202020204" pitchFamily="34" charset="0"/>
                <a:sym typeface="Noto Sans SC"/>
              </a:rPr>
              <a:t>动手实践是掌握 GDI+ 绘图的最佳方式 — 从画一个简单的三角形开始</a:t>
            </a:r>
            <a:endParaRPr lang="en-US" sz="1400" b="0" i="0" u="none" strike="noStrike">
              <a:solidFill>
                <a:srgbClr val="94A3B8"/>
              </a:solidFill>
              <a:latin typeface="Arial" panose="020B0604020202020204" pitchFamily="34" charset="0"/>
              <a:ea typeface="Noto Sans SC"/>
              <a:cs typeface="Arial" panose="020B0604020202020204" pitchFamily="34" charset="0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100000">
              <a:srgbClr val="141E3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4820285" y="3048000"/>
            <a:ext cx="211582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Noto Sans SC"/>
                <a:sym typeface="Noto Sans SC"/>
              </a:rPr>
              <a:t>感谢聆听</a:t>
            </a:r>
            <a:endParaRPr lang="zh-CN" altLang="en-US" sz="4000" b="1" i="0" u="none" strike="noStrike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2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3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4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5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6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7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ags/tag8.xml><?xml version="1.0" encoding="utf-8"?>
<p:tagLst xmlns:p="http://schemas.openxmlformats.org/presentationml/2006/main">
  <p:tag name="KSO_WM_DIAGRAM_VIRTUALLY_FRAME" val="{&quot;height&quot;:245,&quot;left&quot;:80,&quot;top&quot;:23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4126</Words>
  <Application>WPS 演示</Application>
  <PresentationFormat/>
  <Paragraphs>361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Songti SC</vt:lpstr>
      <vt:lpstr>Roboto Mono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弑魔</cp:lastModifiedBy>
  <cp:revision>3</cp:revision>
  <dcterms:created xsi:type="dcterms:W3CDTF">2026-09-08T13:14:00Z</dcterms:created>
  <dcterms:modified xsi:type="dcterms:W3CDTF">2026-09-09T00:46:20Z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{"Label":"1","ContentProducer":"001191110102MACQD9K64010000","ProduceID":"7683134110453812516","ReservedCode1":"","ContentPropagator":"","PropagateID":"","ReservedCode2":""}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9667490C398D49308EEB83B05993E401_12</vt:lpwstr>
  </property>
</Properties>
</file>